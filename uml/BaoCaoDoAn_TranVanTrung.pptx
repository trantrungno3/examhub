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36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MỎ - ĐỊA CHẤT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 · Bộ môn Công nghệ Phần mềm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6400800" cy="0"/>
          </a:xfrm>
          <a:prstGeom prst="line">
            <a:avLst/>
          </a:prstGeom>
          <a:noFill/>
          <a:ln w="190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1901952"/>
            <a:ext cx="6949440" cy="896112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6949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2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DỰNG HỆ THỐNG WEBSITE TẠO SINH</a:t>
            </a:r>
          </a:p>
          <a:p>
            <a:pPr marL="0" indent="0" algn="ctr">
              <a:buNone/>
            </a:pPr>
            <a:r>
              <a:rPr lang="vi-VN" sz="2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THI TỰ ĐỘNG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9443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Trần Văn Trung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1621050490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6393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HƯỚNG DẪN: TS. Hoàng Anh Đức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398678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NGÀNH: CÔNG NGHỆ PHẦN MỀM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 &amp; Lý do chọn đề tài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2130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Phạm vi đề tài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" y="28437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 &amp; Công nghệ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" y="35570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 hệ thống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315968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" y="42702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Kiến trúc hệ thống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cài đặt &amp; Chức năng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176272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66944" y="2130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Đánh giá hệ thống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889504"/>
            <a:ext cx="438912" cy="438912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66944" y="28437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vi-VN" sz="13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Đặt Vấn Đề &amp; Lý Do Chọn Đề Tài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140" y="1504279"/>
            <a:ext cx="41605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3840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1915781"/>
            <a:ext cx="3977640" cy="1752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vi-VN" sz="12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đề thi thủ công tốn nhiều thời gian, công sức của giáo viên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vi-VN" sz="12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đảm bảo đồng đều độ khó giữa các mã đề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vi-VN" sz="12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hiện có (Azota, Shub, Moodle…) tạo đề đơn giản, ít kiểm soát tỉ lệ độ khó &amp; cấp độ tư duy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vi-VN" sz="12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hoá quy trình ra đề trong giáo dục phổ thông là cấp thiết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54296" y="1504279"/>
            <a:ext cx="4160520" cy="3291840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572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8604" y="2052920"/>
            <a:ext cx="3931920" cy="1581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kiến thức ASP.NET Core, PostgreSQL, ReactJS vào bài toán thực tế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công nghệ hiện đại: MinIO, Redis, Docker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khoảng trống: tự sinh nhiều mã đề có kiểm soát tỉ lệ độ khó &amp; Bloom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vi-VN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cao chất lượng, công bằng trong đánh giá học sinh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Mục Tiêu &amp; Phạm Vi Đề Tài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tài: Xây dựng Hệ thống Tạo sinh Đề thi Tự động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41080" cy="65836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quát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kiệm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20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" y="2240280"/>
            <a:ext cx="41605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610180"/>
            <a:ext cx="40233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Bloom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xáo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trộn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Fisher-Yates: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</a:t>
            </a:r>
            <a:endParaRPr lang="en-US" sz="1400" dirty="0">
              <a:solidFill>
                <a:srgbClr val="1A3A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trò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Admin,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Học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endParaRPr lang="en-US" sz="1400" dirty="0">
              <a:solidFill>
                <a:srgbClr val="1A3A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60520" cy="260604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đề tài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5898" y="2540816"/>
            <a:ext cx="3800901" cy="2122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trung: ngân hàng câu hỏi, sinh đề tự động, thi trực tuyến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quy mô một trường học (khoá, lớp cụ thể)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mở rộng: sinh câu hỏi bằng AI, chấm tự luận bằng NLP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trong khuôn khổ thời gian đồ án tốt nghiệp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08576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84848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Cơ Sở Lý Thuyết &amp; Công Nghệ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lý thuyết và công nghệ sử dụng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01168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00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tư duy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cấp độ nhận thức: Nhớ, Hiểu, Vận dụng, Phân tích, Đánh giá, Sáng tạo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Ứng dụng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vi-VN" sz="10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cấp độ tư duy cho câu hỏi, cấu hình đề cân bằng nhận thức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32304" y="1444752"/>
            <a:ext cx="201168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32304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32304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mẫu phân tầng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32304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05456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5456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câu hỏi thành các tầng theo độ khó/Bloom, lấy mẫu theo tỉ lệ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32304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05456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Ứng dụng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05456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đúng số câu mỗi tầng khi sinh đề từ mẫu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08576" y="1444752"/>
            <a:ext cx="201168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08576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 Shuffle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08576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Xáo trộn ngẫu nhiên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xáo trộn đều thứ tự câu hỏi &amp; đáp án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81728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Ứng dụng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81728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nhiều mã đề khác thứ tự, chống trùng lặp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1444752"/>
            <a:ext cx="201168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84848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SOLID · Repository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84848" y="1984248"/>
            <a:ext cx="20116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20391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304288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vi-VN" sz="10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tầng Domain / Application / Infrastructure, phụ thuộc hướng vào trong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84848" y="3785616"/>
            <a:ext cx="2011680" cy="1005840"/>
          </a:xfrm>
          <a:prstGeom prst="rect">
            <a:avLst/>
          </a:prstGeom>
          <a:solidFill>
            <a:srgbClr val="FFF5CC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58000" y="38404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Công nghệ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1148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10, ReactJS 19, PostgreSQL, Redis, MinIO, Docker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Phân Tích Yêu Cầu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42062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847088"/>
            <a:ext cx="54864" cy="292608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856232"/>
            <a:ext cx="3913632" cy="2734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trị: người dùng &amp; phân quyền RBAC; trường – khoá – lớp; gán học sinh, phân công giáo viên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mục: cấp lớp, môn, chủ đề, độ khó, loại câu hỏi, cấp độ Bloom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câu hỏi: CRUD, duyệt, tìm kiếm, import Excel hàng loạt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đề &amp; sinh đề tự động nhiều mã đề, xuất PDF/Word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kỳ thi, giao lớp, làm bài trực tuyến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tự động + chấm tay, thống kê kết quả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444752"/>
            <a:ext cx="4206240" cy="342900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6592" y="1847088"/>
            <a:ext cx="54864" cy="2926080"/>
          </a:xfrm>
          <a:prstGeom prst="rect">
            <a:avLst/>
          </a:prstGeom>
          <a:solidFill>
            <a:srgbClr val="F5D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9250" y="1828801"/>
            <a:ext cx="3824398" cy="2192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năng: truy vấn phân trang &lt; 1s, sinh đề trong vài giây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mật: JWT + RBAC, CORS bảo vệ API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rộng: kiến trúc phân tầng, Docker hoá, MinIO tách file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ưu: EF Core + Dapper + Redis cache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vi-VN" sz="14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diện: Ant Design trực quan, responsive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Sơ Đồ Ca Sử Dụng – Tác Nhân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phạm vi và phân quyền chức năng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743200" cy="475488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Quản trị viên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984248"/>
            <a:ext cx="274320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2560320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&amp; phân quyền (RBAC)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trường – khoá – lớp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dùng chung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câu hỏi, xem tổng quan hệ thống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1444752"/>
            <a:ext cx="2743200" cy="475488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Giáo viên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1984248"/>
            <a:ext cx="274320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2057400"/>
            <a:ext cx="2560320" cy="3630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tìm kiếm câu hỏi, import Excel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câu hỏi chờ duyệt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mẫu đề, sinh đề nhiều mã đề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đề PDF/Word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kỳ thi cho lớp, chấm tự luận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444752"/>
            <a:ext cx="2743200" cy="475488"/>
          </a:xfrm>
          <a:prstGeom prst="rect">
            <a:avLst/>
          </a:prstGeom>
          <a:solidFill>
            <a:srgbClr val="D4A82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444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Học sinh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1984248"/>
            <a:ext cx="2743200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2057400"/>
            <a:ext cx="256032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đề thi/kỳ thi được giao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bài trực tuyến (đếm ngược, tự lưu)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vi-VN" sz="115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bài &amp; xem kết quả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Sơ Đồ Hoạt Động – Các Quy Trình Chính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– 20+ luồng nghiệp vụ được thiết kế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1444752"/>
            <a:ext cx="8641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Sinh Đề Thi Tự Động (Core Flow)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mẫu đề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91640" y="1874520"/>
            <a:ext cx="1298448" cy="804672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pool câu hỏi / đã duyệt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90088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27248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27248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/ chọn theo tầng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25696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62856" y="1874520"/>
            <a:ext cx="1298448" cy="804672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62856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 / xáo trộn câu &amp; đáp án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61304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98464" y="1874520"/>
            <a:ext cx="1298448" cy="804672"/>
          </a:xfrm>
          <a:prstGeom prst="rect">
            <a:avLst/>
          </a:prstGeom>
          <a:solidFill>
            <a:srgbClr val="2455A4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98464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câu hỏi / + gán mã đề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96912" y="2084832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2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34072" y="1874520"/>
            <a:ext cx="1298448" cy="804672"/>
          </a:xfrm>
          <a:prstGeom prst="rect">
            <a:avLst/>
          </a:prstGeom>
          <a:solidFill>
            <a:srgbClr val="27A44A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34072" y="1874520"/>
            <a:ext cx="1298448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xuất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" y="2852928"/>
            <a:ext cx="8641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luồng nghiệp vụ khác đã được thiết kế: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26440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&amp; Phân quyền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3593592"/>
            <a:ext cx="39054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→ Kiểm tra thông tin → Cấp JWT Token → Điều hướng theo role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76732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ngân hàng câu hỏi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" y="4096512"/>
            <a:ext cx="3441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câu hỏi với bộ lọc đa tiêu chí (môn học, chủ đề, độ khó, lớp)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427024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mẫu đề thi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" y="4599432"/>
            <a:ext cx="34414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tỉ lệ độ khó theo từng phần, lưu template để tái sử dụng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9704" y="3776472"/>
            <a:ext cx="146304" cy="40690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758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trực tuyến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09160" y="41056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sinh làm bài → Nộp bài → Chấm tự động trắc nghiệm → Giáo viên chấm tự luận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98848" y="3264408"/>
            <a:ext cx="146304" cy="443234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18304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18304" y="359359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cấu hình Lớp học / Môn học / Chủ đề / Mức độ nhận thức (Bloom's)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Kiến Trúc Hệ Thống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Repository Pattern + SOLID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4617720" cy="457200"/>
          </a:xfrm>
          <a:prstGeom prst="rect">
            <a:avLst/>
          </a:prstGeom>
          <a:solidFill>
            <a:srgbClr val="D4A82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 (ReactJS + TypeScript)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993392"/>
            <a:ext cx="4617720" cy="457200"/>
          </a:xfrm>
          <a:prstGeom prst="rect">
            <a:avLst/>
          </a:prstGeom>
          <a:solidFill>
            <a:srgbClr val="2455A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9933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 (Use Cases / Services)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2523744"/>
            <a:ext cx="4617720" cy="45720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5237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 (Entities + Business Logic)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054096"/>
            <a:ext cx="4617720" cy="457200"/>
          </a:xfrm>
          <a:prstGeom prst="rect">
            <a:avLst/>
          </a:prstGeom>
          <a:solidFill>
            <a:srgbClr val="33456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30540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  (PostgreSQL + MinIO + Docker)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1920240" cy="0"/>
          </a:xfrm>
          <a:prstGeom prst="line">
            <a:avLst/>
          </a:prstGeom>
          <a:noFill/>
          <a:ln w="190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566160"/>
            <a:ext cx="3474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3630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Bảo mật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" y="3922776"/>
            <a:ext cx="3311857" cy="1005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xác thực stateless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Admin / Giáo viên / Học sinh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xoay vòng an toàn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22192" y="3566160"/>
            <a:ext cx="5001768" cy="1463040"/>
          </a:xfrm>
          <a:prstGeom prst="rect">
            <a:avLst/>
          </a:prstGeom>
          <a:solidFill>
            <a:schemeClr val="bg1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89696" y="3630168"/>
            <a:ext cx="4651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Technology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89696" y="3828312"/>
            <a:ext cx="4702791" cy="1100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.NET 10 · ASP.NET Core (C#)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ReactJS 19 · TypeScript · Vite · Ant Design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 16  |  Cache: Redis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400" dirty="0" err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r>
              <a:rPr lang="en-US" sz="14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Container: Docker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Kết Quả Cài Đặt &amp; Chức Năng Hoàn Thành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&amp; các chức năng đã triển khai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7432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hoàn chỉnh 3 vai trò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Học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 Compose (API, Web, PostgreSQL, Redis,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43200" cy="10972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đề tự động &amp; nhiều mã đề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vi-VN" sz="105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+ Fisher-Yates, snapshot câu hỏi, xuất PDF (QuestPDF) lưu MinIO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508760"/>
            <a:ext cx="2743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81344" y="1508760"/>
            <a:ext cx="2743200" cy="109728"/>
          </a:xfrm>
          <a:prstGeom prst="rect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72784" y="21305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câu hỏi &amp; Import Excel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kiếm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import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loạt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</a:t>
            </a:r>
            <a:r>
              <a:rPr lang="en-US" sz="10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Kết Quả Kiểm Thử &amp; Đánh Giá Hiệu Năng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 soát chức năng &amp; phi chức năng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1874520" cy="3246120"/>
          </a:xfrm>
          <a:prstGeom prst="rect">
            <a:avLst/>
          </a:prstGeom>
          <a:solidFill>
            <a:srgbClr val="1A3A6B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6002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" y="2633472"/>
            <a:ext cx="1874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kiểm thử / chức năng chính đạt yêu cầu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1554480" cy="0"/>
          </a:xfrm>
          <a:prstGeom prst="line">
            <a:avLst/>
          </a:prstGeom>
          <a:noFill/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4114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13432" y="1444752"/>
            <a:ext cx="3154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0" y="1444752"/>
            <a:ext cx="3154680" cy="384048"/>
          </a:xfrm>
          <a:prstGeom prst="rect">
            <a:avLst/>
          </a:prstGeom>
          <a:solidFill>
            <a:srgbClr val="27A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1444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Kết quả kiểm thử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95728" y="1892808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nhập, phân quyền, ngân hàng câu hỏi: Đạt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Excel, sinh nhiều mã đề, xuất PDF: Đạt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bài &amp; chấm tự động, chấm tự luận: Đạt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444752"/>
            <a:ext cx="318211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23560" y="1444752"/>
            <a:ext cx="3182112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14447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Hiệu năng &amp; hạn chế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1892808"/>
            <a:ext cx="29626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vi-VN" sz="12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phân trang &lt; 1s; sinh đề vài giây (EF Core + Dapper + Redis)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vi-VN" sz="12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1 ca sinh đề cần tối ưu chống trùng &amp; đảo đáp án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Hạn Chế &amp; Hướng Phát Triển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5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tổng thể và lộ trình nâng cấp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3175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4752" y="2286000"/>
            <a:ext cx="347472" cy="347472"/>
          </a:xfrm>
          <a:prstGeom prst="ellipse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444752"/>
            <a:ext cx="2651760" cy="384048"/>
          </a:xfrm>
          <a:prstGeom prst="rect">
            <a:avLst/>
          </a:prstGeom>
          <a:solidFill>
            <a:srgbClr val="2455A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032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019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 đầy đủ UML (use case, activity, sequence, class, ERD)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hệ thống 3 vai trò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đề tự động, thi trực tuyến, chấm điểm</a:t>
            </a:r>
            <a:endParaRPr lang="en-US" sz="1100" dirty="0">
              <a:solidFill>
                <a:srgbClr val="5A64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47472" cy="347472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0" y="26517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2651760"/>
            <a:ext cx="265176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2651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vi-VN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kiểm thử quy mô dữ liệu lớn &amp; nhiều người dùng đồng thời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vi-VN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tự luận còn thủ công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vi-VN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 câu hỏi bổ sung thủ công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286000"/>
            <a:ext cx="347472" cy="347472"/>
          </a:xfrm>
          <a:prstGeom prst="ellipse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1444752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89320" y="1444752"/>
            <a:ext cx="2651760" cy="384048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4447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b="1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9019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LLM sinh câu hỏi, NLP chấm tự luận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năng lực học sinh (CTT/IRT), thi thích ứng CAT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multi-tenant, mobile 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4901184"/>
            <a:ext cx="8641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950" i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hạn: phân tích chất lượng câu hỏi (Item Analysis – CTT), thi thích ứng theo IRT, ngân hàng đề dùng chung liên trường, thương mại hoá đa trường (multi-tenant).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KẾT LUẬN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đã đạt được: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nghiên cứu, phân tích, thiết kế và cài đặt hệ thống tạo sinh đề thi tự động cho giáo dục phổ thông 1–12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thành công Bloom, lấy mẫu phân tầng &amp; Fisher-Yates để sinh nhiều mã đề công bằng, không trùng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đầy đủ bộ UML và triển khai hệ thống 3 vai trò bằng công nghệ hiện đại (.NET 10, ReactJS 19, PostgreSQL, Docker)</a:t>
            </a:r>
            <a:endParaRPr lang="en-US" sz="1250" dirty="0">
              <a:solidFill>
                <a:srgbClr val="DEE3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1381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1993392"/>
            <a:ext cx="4572000" cy="0"/>
          </a:xfrm>
          <a:prstGeom prst="line">
            <a:avLst/>
          </a:prstGeom>
          <a:noFill/>
          <a:ln w="254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quý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thầy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góp</a:t>
            </a:r>
            <a:r>
              <a:rPr lang="en-US" sz="16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ý!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743200"/>
            <a:ext cx="4572000" cy="19202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Văn Trung
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1621050490  |  Lớp: CNPM K61
</a:t>
            </a:r>
            <a:r>
              <a:rPr lang="en-US" sz="1300" b="1" dirty="0">
                <a:solidFill>
                  <a:srgbClr val="D4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Hoàng Anh Đức
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Công nghệ </a:t>
            </a:r>
            <a:r>
              <a:rPr lang="en-US" sz="130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300" dirty="0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E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4557BC36D6D143A140A1C290569BBB" ma:contentTypeVersion="7" ma:contentTypeDescription="Create a new document." ma:contentTypeScope="" ma:versionID="edb0cf48388aac286673aa2185f2a446">
  <xsd:schema xmlns:xsd="http://www.w3.org/2001/XMLSchema" xmlns:xs="http://www.w3.org/2001/XMLSchema" xmlns:p="http://schemas.microsoft.com/office/2006/metadata/properties" xmlns:ns2="0c56ddfe-cebf-4e82-a05c-5b8b5a26d9a1" targetNamespace="http://schemas.microsoft.com/office/2006/metadata/properties" ma:root="true" ma:fieldsID="b692ffb3d7c2f2addef87a2ad0a39ee5" ns2:_="">
    <xsd:import namespace="0c56ddfe-cebf-4e82-a05c-5b8b5a26d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6ddfe-cebf-4e82-a05c-5b8b5a26d9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A1EDA6-47BB-4387-BD8B-D7C17A821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6ddfe-cebf-4e82-a05c-5b8b5a26d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C6D9E8-FD01-4A68-B6A1-138980B377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ACF56-1375-4C8B-8CD0-09EBD2F26BB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1790</Words>
  <Application>Microsoft Office PowerPoint</Application>
  <PresentationFormat>On-screen Show (16:9)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Thực Tập Tốt Nghiệp - Trần Văn Trung</dc:title>
  <dc:subject>PptxGenJS Presentation</dc:subject>
  <dc:creator/>
  <cp:lastModifiedBy>Tran Trung</cp:lastModifiedBy>
  <cp:revision>50</cp:revision>
  <dcterms:created xsi:type="dcterms:W3CDTF">2026-04-22T18:25:38Z</dcterms:created>
  <dcterms:modified xsi:type="dcterms:W3CDTF">2026-08-18T15:28:53Z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0x010100194557BC36D6D143A140A1C290569BBB</vt:lpwstr>
  </property>
</Properties>
</file>