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36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MỎ - ĐỊA CHẤT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Công nghệ Thông tin · Bộ môn Công nghệ Phần mềm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6400800" cy="0"/>
          </a:xfrm>
          <a:prstGeom prst="line">
            <a:avLst/>
          </a:prstGeom>
          <a:noFill/>
          <a:ln w="1905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THỰC TẬP TỐT NGHIỆP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1901952"/>
            <a:ext cx="6949440" cy="896112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901952"/>
            <a:ext cx="6949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 TẠO SINH ĐỀ THI TỰ ĐỘNG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9443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Trần Văn Trung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MSSV: 1621050490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639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HƯỚNG DẪN: TS. Hoàng Anh Đức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398678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THỰC TẬP: BỘ MÔN CÔNG NGHỆ PHẦN MỀM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nơi thực tập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2130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đề tài &amp; liên hệ CNTT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89504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" y="28437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được giao &amp; kết quả đạt được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602736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" y="35570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 hệ thống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315968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" y="4270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hoá hệ thống (Use Case, Activity)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176272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66944" y="2130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ĐATN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889504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66944" y="28437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Giới Thiệu Nơi Thực Tập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Công nghệ Phần mềm – Trường Đại học Mỏ - Địa chất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1140" y="1504279"/>
            <a:ext cx="41605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bộ môn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920240"/>
            <a:ext cx="3840480" cy="0"/>
          </a:xfrm>
          <a:prstGeom prst="line">
            <a:avLst/>
          </a:prstGeom>
          <a:noFill/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" y="1915781"/>
            <a:ext cx="3977640" cy="1752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Số 18 Phố Viên, P. Đức Thắng, Q. Bắc Từ Liêm, Hà Nội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Phòng 703, nhà C12 tầng khu 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+84 0437521428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congnghephanmem@humg.edu.vn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GVHD: TS. Hoàng Anh Đức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Thành lập: 23/03/2005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54296" y="1504279"/>
            <a:ext cx="4160520" cy="3291840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572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tích &amp; Điểm nổi bật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840480" cy="0"/>
          </a:xfrm>
          <a:prstGeom prst="line">
            <a:avLst/>
          </a:prstGeom>
          <a:noFill/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8604" y="2052920"/>
            <a:ext cx="3931920" cy="1581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2005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cán bộ: 4 Tiến sĩ + 5 Thạc sĩ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13 khoá sinh viên (từ K53)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có việc làm sau ra trường rất cao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làm việc tại FPT, Viettel, VNPT…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công bố quốc tế (SCI/SCIE)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năm liên tiếp: Tập thể Lao động Tiên tiến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Giới Thiệu Đề Tài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với ngành Công nghệ Thông tin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41080" cy="65836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46304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tài: "Xây dựng Hệ thống Tạo sinh Đề thi Tự động"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" y="2240280"/>
            <a:ext cx="41605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610180"/>
            <a:ext cx="40233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đề thi thủ công tốn thời gian, khó đảm bảo độ đồng đều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ứng dụng CNTT để số hoá quy trình giáo dục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kiến thức đã học: ASP.NET, ReactJS, PostgreSQL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công nghệ hiện đại: MinIO, Redis, Docker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60520" cy="2606040"/>
          </a:xfrm>
          <a:prstGeom prst="rect">
            <a:avLst/>
          </a:prstGeom>
          <a:solidFill>
            <a:schemeClr val="bg1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với ngành CNTT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5898" y="2540816"/>
            <a:ext cx="3800901" cy="2122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phần mềm theo kiến trúc Clean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RESTful API với ASP.NET Core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 hệ thống theo quy trình BA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mật: JWT + RBAC phân quyền 3 vai trò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hệ thống với Docker &amp; 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08576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Công Việc Được Giao &amp; Kết Quả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theo 4 tuần thực tập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2011680" cy="47548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02/03–08/03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đề tài, lựa chọn công nghệ, nghiên cứu cơ sở lý thuyết về hệ thống tạo sinh đề thi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Kết quả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rõ scope, chọn stack công nghệ phù hợp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2304" y="1444752"/>
            <a:ext cx="2011680" cy="475488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32304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32304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09/03–15/03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32304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05456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5456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kiến trúc Clean Architecture, CQRS, Repository Pattern, SOLID; tìm hiểu công nghệ ASP.NET Core, ReactJS, PostgreSQL, Docker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32304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05456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Kết quả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05456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vững nền tảng lý thuyết, công nghệ sử dụng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08576" y="1444752"/>
            <a:ext cx="2011680" cy="47548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08576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08576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16/03–22/03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yêu cầu chức năng &amp; phi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phân tích các tác nhân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81728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Kết quả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81728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1444752"/>
            <a:ext cx="2011680" cy="475488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84848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23/03–29/03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84848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kế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20+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84848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58000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Kết quả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Phân Tích Yêu Cầu Hệ Thống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4206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47088"/>
            <a:ext cx="54864" cy="292608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856232"/>
            <a:ext cx="3913632" cy="2734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Môn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b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ngân hàng câu hỏi (CRUD +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b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loạt)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mẫu đề thi theo tỉ lệ độ khó và số câu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đề tự động: nhiều mã đề, không trùng câu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PDF/Word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ấn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trực tuyến, nộp bài, chấm điểm tự động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 với phân quyền 3 vai trò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444752"/>
            <a:ext cx="4206240" cy="3429000"/>
          </a:xfrm>
          <a:prstGeom prst="rect">
            <a:avLst/>
          </a:prstGeom>
          <a:solidFill>
            <a:schemeClr val="bg1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phi chức năng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36592" y="1847088"/>
            <a:ext cx="54864" cy="2926080"/>
          </a:xfrm>
          <a:prstGeom prst="rect">
            <a:avLst/>
          </a:prstGeom>
          <a:solidFill>
            <a:srgbClr val="F5D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9250" y="1828801"/>
            <a:ext cx="3824398" cy="2192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năng: phản hồi nhanh khi sinh nhiều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lúc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mật: JWT + RBAC ngăn truy cập trái phép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rộng: kiến trúc phân tầng, Container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diện: trực quan, thân thiện với giáo viên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đúng đắn: phân bổ độ khó theo Bloom's Taxonomy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Mô Hình Hoá Hệ Thống – Use Case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phạm vi và phân quyền chức năng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2743200" cy="47548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44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Quản trị viên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984248"/>
            <a:ext cx="274320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2560320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(Lớp, Môn, Chủ đề, Độ khó)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Giáo viên &amp; Học sinh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người dùng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tổng quan hệ thống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1444752"/>
            <a:ext cx="2743200" cy="475488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27832" y="1444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Giáo viên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7832" y="1984248"/>
            <a:ext cx="274320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2057400"/>
            <a:ext cx="2560320" cy="3630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Thêm/sửa/xoá câu hỏi ngân hàng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câu hỏi theo bộ lọc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mẫu đề thi (tỉ lệ, số câu)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đề tự động nhiều mã đề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trạng thái &amp; xuất đề (PDF/Word)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bài thi tự luận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444752"/>
            <a:ext cx="2743200" cy="475488"/>
          </a:xfrm>
          <a:prstGeom prst="rect">
            <a:avLst/>
          </a:prstGeom>
          <a:solidFill>
            <a:srgbClr val="D4A82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444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Học sinh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1984248"/>
            <a:ext cx="274320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2057400"/>
            <a:ext cx="256032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 đề thi được giao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bài thi trực tuyến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bài &amp; xem kết quả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Sơ Đồ Hoạt Động – Các Quy Trình Chính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– 20+ luồng nghiệp vụ được thiết kế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1444752"/>
            <a:ext cx="8641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Sinh Đề Thi Tự Động (Core Flow)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1298448" cy="804672"/>
          </a:xfrm>
          <a:prstGeom prst="rect">
            <a:avLst/>
          </a:prstGeom>
          <a:solidFill>
            <a:srgbClr val="2455A4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mẫu đề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91640" y="1874520"/>
            <a:ext cx="1298448" cy="804672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tham số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(số câu, mã đề)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90088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27248" y="1874520"/>
            <a:ext cx="1298448" cy="804672"/>
          </a:xfrm>
          <a:prstGeom prst="rect">
            <a:avLst/>
          </a:prstGeom>
          <a:solidFill>
            <a:srgbClr val="2455A4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27248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truy vấn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câu hỏi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25696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62856" y="1874520"/>
            <a:ext cx="1298448" cy="804672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62856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độ khó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61304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98464" y="1874520"/>
            <a:ext cx="1298448" cy="804672"/>
          </a:xfrm>
          <a:prstGeom prst="rect">
            <a:avLst/>
          </a:prstGeom>
          <a:solidFill>
            <a:srgbClr val="2455A4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98464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Fisher-Yates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(trộn đề)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96912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34072" y="1874520"/>
            <a:ext cx="1298448" cy="804672"/>
          </a:xfrm>
          <a:prstGeom prst="rect">
            <a:avLst/>
          </a:prstGeom>
          <a:solidFill>
            <a:srgbClr val="27A44A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34072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xuất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" y="2852928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luồng nghiệp vụ khác đã được thiết kế: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326440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&amp; Phân quyền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3593592"/>
            <a:ext cx="39054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→ Kiểm tra thông tin → Cấp JWT Token → Điều hướng theo role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76732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ngân hàng câu hỏi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" y="4096512"/>
            <a:ext cx="3441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câu hỏi với bộ lọc đa tiêu chí (môn học, chủ đề, độ khó, lớp)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427024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mẫu đề thi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" y="4599432"/>
            <a:ext cx="3441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tỉ lệ độ khó theo từng phần, lưu template để tái sử dụng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9704" y="3776472"/>
            <a:ext cx="146304" cy="40690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7581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trực tuyến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09160" y="41056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sinh làm bài → Nộp bài → Chấm tự động trắc nghiệm → Giáo viên chấm tự luận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98848" y="326440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18304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18304" y="359359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cấu hình Lớp học / Môn học / Chủ đề / Mức độ nhận thức (Bloom's)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Kiến Trúc Hệ Thống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CQRS + Repository Pattern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4617720" cy="457200"/>
          </a:xfrm>
          <a:prstGeom prst="rect">
            <a:avLst/>
          </a:prstGeom>
          <a:solidFill>
            <a:srgbClr val="D4A82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 (ReactJS + TypeScript)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993392"/>
            <a:ext cx="4617720" cy="457200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9933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 (CQRS Commands &amp; Queries)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523744"/>
            <a:ext cx="4617720" cy="45720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25237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 (Entities + Business Logic)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054096"/>
            <a:ext cx="4617720" cy="457200"/>
          </a:xfrm>
          <a:prstGeom prst="rect">
            <a:avLst/>
          </a:prstGeom>
          <a:solidFill>
            <a:srgbClr val="33456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30540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 (PostgreSQL + MinIO + Docker)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1920240" cy="0"/>
          </a:xfrm>
          <a:prstGeom prst="line">
            <a:avLst/>
          </a:prstGeom>
          <a:noFill/>
          <a:ln w="1905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566160"/>
            <a:ext cx="3474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630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Bảo mật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" y="3922776"/>
            <a:ext cx="3311857" cy="1005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xác thực stateless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Admin / Giáo viên / Học sinh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xoay vòng an toàn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49240" y="3566160"/>
            <a:ext cx="3474720" cy="1371600"/>
          </a:xfrm>
          <a:prstGeom prst="rect">
            <a:avLst/>
          </a:prstGeom>
          <a:solidFill>
            <a:schemeClr val="bg1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3630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Technology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0713" y="3828311"/>
            <a:ext cx="3211773" cy="12967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ASP.NET Core + C#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ReactJS + TypeScript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MinIO  |  Container: Docker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Kết Quả Đạt Được Sau 4 Tuần Thực Tập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Outcomes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50876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2743200" cy="10972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2130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phân tích yêu cầu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đầy đủ yêu cầu chức năng và phi chức năng của hệ thống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743200" cy="10972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130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sơ đồ hoạt động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chi tiết luồng nghiệp vụ cho toàn bộ chức năng hệ thống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150876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81344" y="1508760"/>
            <a:ext cx="2743200" cy="109728"/>
          </a:xfrm>
          <a:prstGeom prst="rect">
            <a:avLst/>
          </a:prstGeom>
          <a:solidFill>
            <a:srgbClr val="245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72784" y="2130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Clean Architecture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tầng Domain / Application / Infrastructure rõ ràng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Tự Đánh Giá Kết Quả Thực Tập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 đáp ứng yêu cầu công việc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1874520" cy="3246120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6002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" y="2633472"/>
            <a:ext cx="1874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đáp ứng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công việc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78608"/>
            <a:ext cx="1554480" cy="0"/>
          </a:xfrm>
          <a:prstGeom prst="line">
            <a:avLst/>
          </a:prstGeom>
          <a:noFill/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41148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13432" y="1444752"/>
            <a:ext cx="3154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0" y="1444752"/>
            <a:ext cx="3154680" cy="384048"/>
          </a:xfrm>
          <a:prstGeom prst="rect">
            <a:avLst/>
          </a:prstGeom>
          <a:solidFill>
            <a:srgbClr val="27A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14447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Đã đạt được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95728" y="1892808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phân tích &amp; thiết kế hệ thống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dựng 20+ sơ đồ hoạt động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khai Docker Compose cục bộ thành công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444752"/>
            <a:ext cx="318211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23560" y="1444752"/>
            <a:ext cx="3182112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144475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Còn hạn chế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1892808"/>
            <a:ext cx="296265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hoàn </a:t>
            </a: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</a:t>
            </a: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gian 4 tuần còn hạn chế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Hướng Phát Triển – Từ TTTN đến Đồ Án TN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mở rộng và nâng cấp hệ thống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3175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4752" y="2286000"/>
            <a:ext cx="347472" cy="347472"/>
          </a:xfrm>
          <a:prstGeom prst="ellipse">
            <a:avLst/>
          </a:prstGeom>
          <a:solidFill>
            <a:srgbClr val="245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444752"/>
            <a:ext cx="2651760" cy="384048"/>
          </a:xfrm>
          <a:prstGeom prst="rect">
            <a:avLst/>
          </a:prstGeom>
          <a:solidFill>
            <a:srgbClr val="2455A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032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TTTN (</a:t>
            </a:r>
            <a:r>
              <a:rPr lang="en-US" sz="11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1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1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019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thiết kế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endParaRPr lang="en-US" sz="1100" dirty="0">
              <a:solidFill>
                <a:srgbClr val="5A64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1100" dirty="0">
              <a:solidFill>
                <a:srgbClr val="5A64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mockup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endParaRPr lang="en-US" sz="1100" dirty="0">
              <a:solidFill>
                <a:srgbClr val="5A64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vứng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47472" cy="347472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08960" y="26517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0" y="2651760"/>
            <a:ext cx="2651760" cy="38404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2651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(Ngắn hạn)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</a:t>
            </a:r>
            <a:endParaRPr lang="en-US" sz="1100" dirty="0">
              <a:solidFill>
                <a:srgbClr val="5A64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ReactJS đầy đủ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PDF/Word đề thi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286000"/>
            <a:ext cx="347472" cy="347472"/>
          </a:xfrm>
          <a:prstGeom prst="ellipse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14447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89320" y="1444752"/>
            <a:ext cx="2651760" cy="38404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ĐATN (Dài hạn)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9019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trực tuyến real-time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kê &amp; phân tích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endParaRPr lang="en-US" sz="1100" dirty="0">
              <a:solidFill>
                <a:srgbClr val="5A64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rộng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tới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4901184"/>
            <a:ext cx="8641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dài hạn: Tích hợp AI/ML hỗ trợ chấm tự luận, mở rộng hệ thống đa trường, phân tích năng lực học sinh theo chuẩn IRT (Item Response Theory).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KẾT LUẬN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đã đạt được: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nghiên cứu, phân tích và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hệ thống tạo sinh đề thi tự động cho giáo dục phổ thông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1–12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luỹ kiến thức thực tiễn về phân tích thiết kế hệ thống, kiến trúc phần mềm và bảo mật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</a:t>
            </a:r>
            <a:r>
              <a:rPr lang="en-US" sz="125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1250" dirty="0">
              <a:solidFill>
                <a:srgbClr val="DEE3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81381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ƠN!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993392"/>
            <a:ext cx="4572000" cy="0"/>
          </a:xfrm>
          <a:prstGeom prst="line">
            <a:avLst/>
          </a:prstGeom>
          <a:noFill/>
          <a:ln w="254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mong thầy cô và hội đồng đặt câu hỏi!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743200"/>
            <a:ext cx="4572000" cy="19202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Văn Trung
</a:t>
            </a:r>
            <a:r>
              <a:rPr lang="en-US" sz="13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MSSV: 1621050490  |  Lớp: CNPM K61
</a:t>
            </a: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Hoàng Anh Đức
</a:t>
            </a:r>
            <a:r>
              <a:rPr lang="en-US" sz="13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Công nghệ </a:t>
            </a:r>
            <a:r>
              <a:rPr lang="en-US" sz="130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3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4557BC36D6D143A140A1C290569BBB" ma:contentTypeVersion="7" ma:contentTypeDescription="Create a new document." ma:contentTypeScope="" ma:versionID="edb0cf48388aac286673aa2185f2a446">
  <xsd:schema xmlns:xsd="http://www.w3.org/2001/XMLSchema" xmlns:xs="http://www.w3.org/2001/XMLSchema" xmlns:p="http://schemas.microsoft.com/office/2006/metadata/properties" xmlns:ns2="0c56ddfe-cebf-4e82-a05c-5b8b5a26d9a1" targetNamespace="http://schemas.microsoft.com/office/2006/metadata/properties" ma:root="true" ma:fieldsID="b692ffb3d7c2f2addef87a2ad0a39ee5" ns2:_="">
    <xsd:import namespace="0c56ddfe-cebf-4e82-a05c-5b8b5a26d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6ddfe-cebf-4e82-a05c-5b8b5a26d9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A1EDA6-47BB-4387-BD8B-D7C17A8218A4}"/>
</file>

<file path=customXml/itemProps2.xml><?xml version="1.0" encoding="utf-8"?>
<ds:datastoreItem xmlns:ds="http://schemas.openxmlformats.org/officeDocument/2006/customXml" ds:itemID="{BDC6D9E8-FD01-4A68-B6A1-138980B3774F}"/>
</file>

<file path=customXml/itemProps3.xml><?xml version="1.0" encoding="utf-8"?>
<ds:datastoreItem xmlns:ds="http://schemas.openxmlformats.org/officeDocument/2006/customXml" ds:itemID="{E3FACF56-1375-4C8B-8CD0-09EBD2F26BBA}"/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1654</Words>
  <Application>Microsoft Office PowerPoint</Application>
  <PresentationFormat>On-screen Show (16:9)</PresentationFormat>
  <Paragraphs>224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Thực Tập Tốt Nghiệp - Trần Văn Trung</dc:title>
  <dc:subject>PptxGenJS Presentation</dc:subject>
  <dc:creator/>
  <cp:lastModifiedBy>TRẦN VĂN TRUNG</cp:lastModifiedBy>
  <cp:revision>42</cp:revision>
  <dcterms:created xsi:type="dcterms:W3CDTF">2026-04-22T18:25:38Z</dcterms:created>
  <dcterms:modified xsi:type="dcterms:W3CDTF">2026-04-22T20:54:17Z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0x010100194557BC36D6D143A140A1C290569BBB</vt:lpwstr>
  </property>
</Properties>
</file>